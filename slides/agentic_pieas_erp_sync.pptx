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3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463040"/>
            <a:ext cx="5669280" cy="5669280"/>
          </a:xfrm>
          <a:prstGeom prst="ellipse">
            <a:avLst/>
          </a:prstGeom>
          <a:solidFill>
            <a:srgbClr val="1FD1C1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754880"/>
            <a:ext cx="4572000" cy="4572000"/>
          </a:xfrm>
          <a:prstGeom prst="ellipse">
            <a:avLst/>
          </a:prstGeom>
          <a:solidFill>
            <a:srgbClr val="0FA3A3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FA3A3"/>
          </a:solidFill>
          <a:ln/>
        </p:spPr>
      </p:sp>
      <p:sp>
        <p:nvSpPr>
          <p:cNvPr id="5" name="Shape 3"/>
          <p:cNvSpPr/>
          <p:nvPr/>
        </p:nvSpPr>
        <p:spPr>
          <a:xfrm>
            <a:off x="8769096" y="978408"/>
            <a:ext cx="486461" cy="0"/>
          </a:xfrm>
          <a:prstGeom prst="line">
            <a:avLst/>
          </a:prstGeom>
          <a:noFill/>
          <a:ln w="12700">
            <a:solidFill>
              <a:srgbClr val="0FA3A3"/>
            </a:solidFill>
            <a:prstDash val="solid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9694469" y="978408"/>
            <a:ext cx="486461" cy="0"/>
          </a:xfrm>
          <a:prstGeom prst="line">
            <a:avLst/>
          </a:prstGeom>
          <a:noFill/>
          <a:ln w="12700">
            <a:solidFill>
              <a:srgbClr val="0FA3A3"/>
            </a:solidFill>
            <a:prstDash val="solid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10619842" y="978408"/>
            <a:ext cx="486461" cy="0"/>
          </a:xfrm>
          <a:prstGeom prst="line">
            <a:avLst/>
          </a:prstGeom>
          <a:noFill/>
          <a:ln w="12700">
            <a:solidFill>
              <a:srgbClr val="0FA3A3"/>
            </a:solidFill>
            <a:prstDash val="solid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8549640" y="777240"/>
            <a:ext cx="402336" cy="402336"/>
          </a:xfrm>
          <a:prstGeom prst="ellipse">
            <a:avLst/>
          </a:prstGeom>
          <a:solidFill>
            <a:srgbClr val="0B1330"/>
          </a:solidFill>
          <a:ln w="19050">
            <a:solidFill>
              <a:srgbClr val="1FD1C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49640" y="7772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72" b="1" dirty="0">
                <a:solidFill>
                  <a:srgbClr val="1FD1C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</a:t>
            </a:r>
            <a:endParaRPr lang="en-US" sz="572" dirty="0"/>
          </a:p>
        </p:txBody>
      </p:sp>
      <p:sp>
        <p:nvSpPr>
          <p:cNvPr id="10" name="Shape 8"/>
          <p:cNvSpPr/>
          <p:nvPr/>
        </p:nvSpPr>
        <p:spPr>
          <a:xfrm>
            <a:off x="9475013" y="777240"/>
            <a:ext cx="402336" cy="402336"/>
          </a:xfrm>
          <a:prstGeom prst="ellipse">
            <a:avLst/>
          </a:prstGeom>
          <a:solidFill>
            <a:srgbClr val="0B1330"/>
          </a:solidFill>
          <a:ln w="19050">
            <a:solidFill>
              <a:srgbClr val="0FA3A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475013" y="7772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72" b="1" dirty="0">
                <a:solidFill>
                  <a:srgbClr val="0FA3A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</a:t>
            </a:r>
            <a:endParaRPr lang="en-US" sz="572" dirty="0"/>
          </a:p>
        </p:txBody>
      </p:sp>
      <p:sp>
        <p:nvSpPr>
          <p:cNvPr id="12" name="Shape 10"/>
          <p:cNvSpPr/>
          <p:nvPr/>
        </p:nvSpPr>
        <p:spPr>
          <a:xfrm>
            <a:off x="10400386" y="777240"/>
            <a:ext cx="402336" cy="402336"/>
          </a:xfrm>
          <a:prstGeom prst="ellipse">
            <a:avLst/>
          </a:prstGeom>
          <a:solidFill>
            <a:srgbClr val="0B1330"/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400386" y="7772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72" b="1" dirty="0">
                <a:solidFill>
                  <a:srgbClr val="E8A33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</a:t>
            </a:r>
            <a:endParaRPr lang="en-US" sz="572" dirty="0"/>
          </a:p>
        </p:txBody>
      </p:sp>
      <p:sp>
        <p:nvSpPr>
          <p:cNvPr id="14" name="Shape 12"/>
          <p:cNvSpPr/>
          <p:nvPr/>
        </p:nvSpPr>
        <p:spPr>
          <a:xfrm>
            <a:off x="11325758" y="777240"/>
            <a:ext cx="402336" cy="402336"/>
          </a:xfrm>
          <a:prstGeom prst="ellipse">
            <a:avLst/>
          </a:prstGeom>
          <a:solidFill>
            <a:srgbClr val="0B1330"/>
          </a:solidFill>
          <a:ln w="19050">
            <a:solidFill>
              <a:srgbClr val="E8604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325758" y="7772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72" b="1" dirty="0">
                <a:solidFill>
                  <a:srgbClr val="E8604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</a:t>
            </a:r>
            <a:endParaRPr lang="en-US" sz="572" dirty="0"/>
          </a:p>
        </p:txBody>
      </p:sp>
      <p:sp>
        <p:nvSpPr>
          <p:cNvPr id="16" name="Text 14"/>
          <p:cNvSpPr/>
          <p:nvPr/>
        </p:nvSpPr>
        <p:spPr>
          <a:xfrm>
            <a:off x="685800" y="233172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FA3A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PAKISTAN INSTITUTE OF ENGINEERING AND APPLIED SCIENCES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58368" y="2697480"/>
            <a:ext cx="105156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Agentic PIEAS ERP</a:t>
            </a:r>
            <a:endParaRPr lang="en-US" sz="4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Synchronization</a:t>
            </a:r>
            <a:endParaRPr lang="en-US" sz="4400" dirty="0"/>
          </a:p>
        </p:txBody>
      </p:sp>
      <p:sp>
        <p:nvSpPr>
          <p:cNvPr id="18" name="Text 16"/>
          <p:cNvSpPr/>
          <p:nvPr/>
        </p:nvSpPr>
        <p:spPr>
          <a:xfrm>
            <a:off x="685800" y="4279392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D1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Four-Agent LangGraph System for Continuous, Unattended Data Migration into OpenEduCat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713232" y="5074920"/>
            <a:ext cx="7424928" cy="0"/>
          </a:xfrm>
          <a:prstGeom prst="line">
            <a:avLst/>
          </a:prstGeom>
          <a:noFill/>
          <a:ln w="9525">
            <a:solidFill>
              <a:srgbClr val="3A4568"/>
            </a:solidFill>
            <a:prstDash val="solid"/>
            <a:tailEnd type="none"/>
          </a:ln>
        </p:spPr>
      </p:sp>
      <p:sp>
        <p:nvSpPr>
          <p:cNvPr id="20" name="Text 18"/>
          <p:cNvSpPr/>
          <p:nvPr/>
        </p:nvSpPr>
        <p:spPr>
          <a:xfrm>
            <a:off x="685800" y="5230368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7D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legacy learning-management system, with no API and no webhooks, kept in perpetual synchrony with a modern Odoo-based ERP through bulk migration, incremental updates, and unattended deletion detection.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0FA3A3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" y="61081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133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PROJECT TYPE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85800" y="637336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/ Systems Integration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572000" y="610819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133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STACK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572000" y="637336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 •  Gemini  •  MySQL  •  Odoo XML-RPC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9326880" y="61081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133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DATE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9326880" y="637336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August 2026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22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Synchronizing a System That Cannot Speak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Upgrading from a standalone PIEAS LMS to OpenEduCat solves data silos — but the source system is completely silent.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12064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9525">
            <a:solidFill>
              <a:srgbClr val="5B6B87"/>
            </a:solidFill>
            <a:prstDash val="solid"/>
          </a:ln>
          <a:effectLst>
            <a:outerShdw sx="100000" sy="100000" kx="0" ky="0" algn="bl" rotWithShape="0" blurRad="76200" dist="25400" dir="5400000">
              <a:srgbClr val="5B6B87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98424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PIEAS LMS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2862072" y="2578608"/>
            <a:ext cx="493776" cy="493776"/>
          </a:xfrm>
          <a:prstGeom prst="arc">
            <a:avLst>
              <a:gd name="adj1" fmla="val 10800000"/>
              <a:gd name="adj2" fmla="val 21600000"/>
            </a:avLst>
          </a:prstGeom>
          <a:ln w="50800">
            <a:solidFill>
              <a:srgbClr val="E8604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679192" y="2788920"/>
            <a:ext cx="859536" cy="658368"/>
          </a:xfrm>
          <a:prstGeom prst="roundRect">
            <a:avLst>
              <a:gd name="adj" fmla="val 9722"/>
            </a:avLst>
          </a:prstGeom>
          <a:solidFill>
            <a:srgbClr val="E8604C">
              <a:alpha val="88000"/>
            </a:srgbClr>
          </a:solidFill>
          <a:ln w="19050">
            <a:solidFill>
              <a:srgbClr val="E8604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054096" y="2999232"/>
            <a:ext cx="109728" cy="10972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374904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6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No API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4151376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6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No webhooks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455371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6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Cannot push updates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92240" y="1783080"/>
            <a:ext cx="512064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9525">
            <a:solidFill>
              <a:srgbClr val="5B6B87"/>
            </a:solidFill>
            <a:prstDash val="solid"/>
          </a:ln>
          <a:effectLst>
            <a:outerShdw sx="100000" sy="100000" kx="0" ky="0" algn="bl" rotWithShape="0" blurRad="76200" dist="25400" dir="5400000">
              <a:srgbClr val="5B6B87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766560" y="198424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OpenEduCat (Odoo)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9052560" y="2788920"/>
            <a:ext cx="0" cy="-329184"/>
          </a:xfrm>
          <a:prstGeom prst="line">
            <a:avLst/>
          </a:prstGeom>
          <a:noFill/>
          <a:ln w="19050">
            <a:solidFill>
              <a:srgbClr val="0FA3A3"/>
            </a:solidFill>
            <a:prstDash val="solid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9052560" y="2788920"/>
            <a:ext cx="-329184" cy="219456"/>
          </a:xfrm>
          <a:prstGeom prst="line">
            <a:avLst/>
          </a:prstGeom>
          <a:noFill/>
          <a:ln w="19050">
            <a:solidFill>
              <a:srgbClr val="0FA3A3"/>
            </a:solidFill>
            <a:prstDash val="solid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9052560" y="2788920"/>
            <a:ext cx="329184" cy="219456"/>
          </a:xfrm>
          <a:prstGeom prst="line">
            <a:avLst/>
          </a:prstGeom>
          <a:noFill/>
          <a:ln w="19050">
            <a:solidFill>
              <a:srgbClr val="0FA3A3"/>
            </a:solidFill>
            <a:prstDash val="solid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8942832" y="2679192"/>
            <a:ext cx="219456" cy="21945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FA3A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965692" y="2372868"/>
            <a:ext cx="173736" cy="17373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FD1C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636508" y="2921508"/>
            <a:ext cx="173736" cy="17373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FD1C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294876" y="2921508"/>
            <a:ext cx="173736" cy="17373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FD1C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66560" y="374904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Modern ERP with a real API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766560" y="4151376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Centralizes academic records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766560" y="455371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Eliminates data silos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1737360" y="5285232"/>
            <a:ext cx="8686800" cy="777240"/>
          </a:xfrm>
          <a:prstGeom prst="roundRect">
            <a:avLst>
              <a:gd name="adj" fmla="val 11765"/>
            </a:avLst>
          </a:prstGeom>
          <a:solidFill>
            <a:srgbClr val="15224A"/>
          </a:solidFill>
          <a:ln/>
          <a:effectLst>
            <a:outerShdw sx="100000" sy="100000" kx="0" ky="0" algn="bl" rotWithShape="0" blurRad="76200" dist="25400" dir="5400000">
              <a:srgbClr val="5B6B87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1965960" y="5285232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“How do you synchronize a system that cannot tell you when its data changes?”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PIEAS ERP Synchronization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22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Four Constraints Shape Every Decision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source is untouchable and mute. Everything downstream has to work within that.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1106424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2E6EF"/>
            </a:solidFill>
            <a:prstDash val="solid"/>
          </a:ln>
          <a:effectLst>
            <a:outerShdw sx="100000" sy="100000" kx="0" ky="0" algn="bl" rotWithShape="0" blurRad="76200" dist="25400" dir="5400000">
              <a:srgbClr val="5B6B87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50976" y="2148840"/>
            <a:ext cx="566928" cy="566928"/>
          </a:xfrm>
          <a:prstGeom prst="ellipse">
            <a:avLst/>
          </a:prstGeom>
          <a:solidFill>
            <a:srgbClr val="F3F5FA"/>
          </a:solidFill>
          <a:ln w="25400">
            <a:solidFill>
              <a:srgbClr val="1FD1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50976" y="21488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D1C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783080" y="2048256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522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Zero modification of the legacy source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783080" y="242316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2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trigger, no dirty-flag column, no outbox table may be added to PIEAS.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3054096"/>
            <a:ext cx="1106424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2E6EF"/>
            </a:solidFill>
            <a:prstDash val="solid"/>
          </a:ln>
          <a:effectLst>
            <a:outerShdw sx="100000" sy="100000" kx="0" ky="0" algn="bl" rotWithShape="0" blurRad="76200" dist="25400" dir="5400000">
              <a:srgbClr val="5B6B87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50976" y="3282696"/>
            <a:ext cx="566928" cy="566928"/>
          </a:xfrm>
          <a:prstGeom prst="ellipse">
            <a:avLst/>
          </a:prstGeom>
          <a:solidFill>
            <a:srgbClr val="F3F5FA"/>
          </a:solidFill>
          <a:ln w="25400">
            <a:solidFill>
              <a:srgbClr val="0FA3A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50976" y="32826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A3A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783080" y="3182112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522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No notification channel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1783080" y="3557016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2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detection must be pull-based, driven entirely from the target side.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187952"/>
            <a:ext cx="1106424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2E6EF"/>
            </a:solidFill>
            <a:prstDash val="solid"/>
          </a:ln>
          <a:effectLst>
            <a:outerShdw sx="100000" sy="100000" kx="0" ky="0" algn="bl" rotWithShape="0" blurRad="76200" dist="25400" dir="5400000">
              <a:srgbClr val="5B6B87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50976" y="4416552"/>
            <a:ext cx="566928" cy="566928"/>
          </a:xfrm>
          <a:prstGeom prst="ellipse">
            <a:avLst/>
          </a:prstGeom>
          <a:solidFill>
            <a:srgbClr val="F3F5FA"/>
          </a:solidFill>
          <a:ln w="25400">
            <a:solidFill>
              <a:srgbClr val="E8A3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50976" y="44165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A33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783080" y="431596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522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Correctness under partial failure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1783080" y="4690872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2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crashed or interrupted sync run must never silently lose a change or duplicate a record.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5321808"/>
            <a:ext cx="1106424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2E6EF"/>
            </a:solidFill>
            <a:prstDash val="solid"/>
          </a:ln>
          <a:effectLst>
            <a:outerShdw sx="100000" sy="100000" kx="0" ky="0" algn="bl" rotWithShape="0" blurRad="76200" dist="25400" dir="5400000">
              <a:srgbClr val="5B6B87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50976" y="5550408"/>
            <a:ext cx="566928" cy="566928"/>
          </a:xfrm>
          <a:prstGeom prst="ellipse">
            <a:avLst/>
          </a:prstGeom>
          <a:solidFill>
            <a:srgbClr val="F3F5FA"/>
          </a:solidFill>
          <a:ln w="25400">
            <a:solidFill>
              <a:srgbClr val="E8604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50976" y="555040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604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783080" y="5449824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522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Respect the target's business rules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1783080" y="5824728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2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into Odoo must go through its ORM — computed fields, validation, and bookkeeping honoured, not bypassed.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PIEAS ERP Synchronization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22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Specialized Multi-Agent Architecture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agent decides. Three agents execute. Nothing is monolithic.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526280" y="1874520"/>
            <a:ext cx="3611880" cy="868680"/>
          </a:xfrm>
          <a:prstGeom prst="roundRect">
            <a:avLst>
              <a:gd name="adj" fmla="val 10526"/>
            </a:avLst>
          </a:prstGeom>
          <a:solidFill>
            <a:srgbClr val="EDEFF8"/>
          </a:solidFill>
          <a:ln w="15875">
            <a:solidFill>
              <a:srgbClr val="15224A"/>
            </a:solidFill>
            <a:prstDash val="solid"/>
          </a:ln>
          <a:effectLst>
            <a:outerShdw sx="100000" sy="100000" kx="0" ky="0" algn="bl" rotWithShape="0" blurRad="76200" dist="25400" dir="5400000">
              <a:srgbClr val="5B6B87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26280" y="196596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22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Orchestrator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26280" y="233172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workflow &amp; state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332220" y="2743200"/>
            <a:ext cx="0" cy="256032"/>
          </a:xfrm>
          <a:prstGeom prst="line">
            <a:avLst/>
          </a:prstGeom>
          <a:noFill/>
          <a:ln w="12700">
            <a:solidFill>
              <a:srgbClr val="8892AE"/>
            </a:solidFill>
            <a:prstDash val="dash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3268980" y="2999232"/>
            <a:ext cx="4389120" cy="0"/>
          </a:xfrm>
          <a:prstGeom prst="line">
            <a:avLst/>
          </a:prstGeom>
          <a:noFill/>
          <a:ln w="12700">
            <a:solidFill>
              <a:srgbClr val="8892AE"/>
            </a:solidFill>
            <a:prstDash val="dash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3268980" y="2999232"/>
            <a:ext cx="0" cy="704088"/>
          </a:xfrm>
          <a:prstGeom prst="line">
            <a:avLst/>
          </a:prstGeom>
          <a:noFill/>
          <a:ln w="12700">
            <a:solidFill>
              <a:srgbClr val="8892AE"/>
            </a:solidFill>
            <a:prstDash val="dash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463540" y="2999232"/>
            <a:ext cx="0" cy="704088"/>
          </a:xfrm>
          <a:prstGeom prst="line">
            <a:avLst/>
          </a:prstGeom>
          <a:noFill/>
          <a:ln w="12700">
            <a:solidFill>
              <a:srgbClr val="8892AE"/>
            </a:solidFill>
            <a:prstDash val="dash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7658100" y="2999232"/>
            <a:ext cx="0" cy="704088"/>
          </a:xfrm>
          <a:prstGeom prst="line">
            <a:avLst/>
          </a:prstGeom>
          <a:noFill/>
          <a:ln w="12700">
            <a:solidFill>
              <a:srgbClr val="8892AE"/>
            </a:solidFill>
            <a:prstDash val="dash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48640" y="3703320"/>
            <a:ext cx="1417320" cy="777240"/>
          </a:xfrm>
          <a:prstGeom prst="roundRect">
            <a:avLst>
              <a:gd name="adj" fmla="val 10588"/>
            </a:avLst>
          </a:prstGeom>
          <a:solidFill>
            <a:srgbClr val="F3F5FA"/>
          </a:solidFill>
          <a:ln w="15875">
            <a:solidFill>
              <a:srgbClr val="5B6B87"/>
            </a:solidFill>
            <a:prstDash val="solid"/>
          </a:ln>
          <a:effectLst>
            <a:outerShdw sx="100000" sy="100000" kx="0" ky="0" algn="bl" rotWithShape="0" blurRad="76200" dist="25400" dir="5400000">
              <a:srgbClr val="5B6B87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48640" y="379476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22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PIEAS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4123944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331720" y="3703320"/>
            <a:ext cx="1874520" cy="777240"/>
          </a:xfrm>
          <a:prstGeom prst="roundRect">
            <a:avLst>
              <a:gd name="adj" fmla="val 10588"/>
            </a:avLst>
          </a:prstGeom>
          <a:solidFill>
            <a:srgbClr val="E4F6F6"/>
          </a:solidFill>
          <a:ln w="15875">
            <a:solidFill>
              <a:srgbClr val="0FA3A3"/>
            </a:solidFill>
            <a:prstDash val="solid"/>
          </a:ln>
          <a:effectLst>
            <a:outerShdw sx="100000" sy="100000" kx="0" ky="0" algn="bl" rotWithShape="0" blurRad="76200" dist="25400" dir="5400000">
              <a:srgbClr val="5B6B87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331720" y="379476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22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Extractor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331720" y="4123944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scrapes raw data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26280" y="3703320"/>
            <a:ext cx="1874520" cy="777240"/>
          </a:xfrm>
          <a:prstGeom prst="roundRect">
            <a:avLst>
              <a:gd name="adj" fmla="val 10588"/>
            </a:avLst>
          </a:prstGeom>
          <a:solidFill>
            <a:srgbClr val="E4F6F6"/>
          </a:solidFill>
          <a:ln w="15875">
            <a:solidFill>
              <a:srgbClr val="0FA3A3"/>
            </a:solidFill>
            <a:prstDash val="solid"/>
          </a:ln>
          <a:effectLst>
            <a:outerShdw sx="100000" sy="100000" kx="0" ky="0" algn="bl" rotWithShape="0" blurRad="76200" dist="25400" dir="5400000">
              <a:srgbClr val="5B6B87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526280" y="379476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22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Transformer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26280" y="4123944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to OC schema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720840" y="3703320"/>
            <a:ext cx="1874520" cy="777240"/>
          </a:xfrm>
          <a:prstGeom prst="roundRect">
            <a:avLst>
              <a:gd name="adj" fmla="val 10588"/>
            </a:avLst>
          </a:prstGeom>
          <a:solidFill>
            <a:srgbClr val="FCEFEA"/>
          </a:solidFill>
          <a:ln w="15875">
            <a:solidFill>
              <a:srgbClr val="E8604C"/>
            </a:solidFill>
            <a:prstDash val="solid"/>
          </a:ln>
          <a:effectLst>
            <a:outerShdw sx="100000" sy="100000" kx="0" ky="0" algn="bl" rotWithShape="0" blurRad="76200" dist="25400" dir="5400000">
              <a:srgbClr val="5B6B87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720840" y="379476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22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Loader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720840" y="4123944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via API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8915400" y="3703320"/>
            <a:ext cx="1737360" cy="777240"/>
          </a:xfrm>
          <a:prstGeom prst="roundRect">
            <a:avLst>
              <a:gd name="adj" fmla="val 10588"/>
            </a:avLst>
          </a:prstGeom>
          <a:solidFill>
            <a:srgbClr val="F3F5FA"/>
          </a:solidFill>
          <a:ln w="15875">
            <a:solidFill>
              <a:srgbClr val="5B6B87"/>
            </a:solidFill>
            <a:prstDash val="solid"/>
          </a:ln>
          <a:effectLst>
            <a:outerShdw sx="100000" sy="100000" kx="0" ky="0" algn="bl" rotWithShape="0" blurRad="76200" dist="25400" dir="5400000">
              <a:srgbClr val="5B6B87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915400" y="37947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22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OpenEduCat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915400" y="4123944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1965960" y="4091940"/>
            <a:ext cx="365760" cy="0"/>
          </a:xfrm>
          <a:prstGeom prst="line">
            <a:avLst/>
          </a:prstGeom>
          <a:noFill/>
          <a:ln w="15875">
            <a:solidFill>
              <a:srgbClr val="5B6B87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4206240" y="4091940"/>
            <a:ext cx="320040" cy="0"/>
          </a:xfrm>
          <a:prstGeom prst="line">
            <a:avLst/>
          </a:prstGeom>
          <a:noFill/>
          <a:ln w="15875">
            <a:solidFill>
              <a:srgbClr val="5B6B87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6400800" y="4091940"/>
            <a:ext cx="320040" cy="0"/>
          </a:xfrm>
          <a:prstGeom prst="line">
            <a:avLst/>
          </a:prstGeom>
          <a:noFill/>
          <a:ln w="15875">
            <a:solidFill>
              <a:srgbClr val="5B6B87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8595360" y="4091940"/>
            <a:ext cx="320040" cy="0"/>
          </a:xfrm>
          <a:prstGeom prst="line">
            <a:avLst/>
          </a:prstGeom>
          <a:noFill/>
          <a:ln w="15875">
            <a:solidFill>
              <a:srgbClr val="5B6B87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2651760" y="5074920"/>
            <a:ext cx="6858000" cy="566928"/>
          </a:xfrm>
          <a:prstGeom prst="roundRect">
            <a:avLst>
              <a:gd name="adj" fmla="val 50000"/>
            </a:avLst>
          </a:prstGeom>
          <a:solidFill>
            <a:srgbClr val="15224A"/>
          </a:solidFill>
          <a:ln/>
          <a:effectLst>
            <a:outerShdw sx="100000" sy="100000" kx="0" ky="0" algn="bl" rotWithShape="0" blurRad="76200" dist="25400" dir="5400000">
              <a:srgbClr val="5B6B87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2651760" y="5074920"/>
            <a:ext cx="6858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Design Principle:  One agent, one job.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PIEAS ERP Synchronization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22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Four Agents, Four Clear Jobs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one of them makes decisions or holds memory. The rest strictly execute.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3949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2E6EF"/>
            </a:solidFill>
            <a:prstDash val="solid"/>
          </a:ln>
          <a:effectLst>
            <a:outerShdw sx="100000" sy="100000" kx="0" ky="0" algn="bl" rotWithShape="0" blurRad="76200" dist="25400" dir="5400000">
              <a:srgbClr val="5B6B87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32104" y="2121408"/>
            <a:ext cx="640080" cy="640080"/>
          </a:xfrm>
          <a:prstGeom prst="ellipse">
            <a:avLst/>
          </a:prstGeom>
          <a:solidFill>
            <a:srgbClr val="0B1330"/>
          </a:solidFill>
          <a:ln w="19050">
            <a:solidFill>
              <a:srgbClr val="1FD1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32104" y="212140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D1C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600200" y="207568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Orchestrator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600200" y="244144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 state — exclusively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292608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2A2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decision-maker. Reads sync_mapping to pick each entity's phase, writes extraction instructions, and is the sole agent that advances the watermark.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63640" y="1874520"/>
            <a:ext cx="53949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2E6EF"/>
            </a:solidFill>
            <a:prstDash val="solid"/>
          </a:ln>
          <a:effectLst>
            <a:outerShdw sx="100000" sy="100000" kx="0" ky="0" algn="bl" rotWithShape="0" blurRad="76200" dist="25400" dir="5400000">
              <a:srgbClr val="5B6B87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547104" y="2121408"/>
            <a:ext cx="640080" cy="640080"/>
          </a:xfrm>
          <a:prstGeom prst="ellipse">
            <a:avLst/>
          </a:prstGeom>
          <a:solidFill>
            <a:srgbClr val="0B1330"/>
          </a:solidFill>
          <a:ln w="19050">
            <a:solidFill>
              <a:srgbClr val="1FD1C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47104" y="212140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D1C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315200" y="207568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Extractor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7315200" y="244144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537960" y="292608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2A2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pure fetcher, and the only agent that ever touches PIEAS. Takes an instruction, returns rows. Makes no comparisons.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977640"/>
            <a:ext cx="53949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2E6EF"/>
            </a:solidFill>
            <a:prstDash val="solid"/>
          </a:ln>
          <a:effectLst>
            <a:outerShdw sx="100000" sy="100000" kx="0" ky="0" algn="bl" rotWithShape="0" blurRad="76200" dist="25400" dir="5400000">
              <a:srgbClr val="5B6B87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32104" y="4224528"/>
            <a:ext cx="640080" cy="640080"/>
          </a:xfrm>
          <a:prstGeom prst="ellipse">
            <a:avLst/>
          </a:prstGeom>
          <a:solidFill>
            <a:srgbClr val="0B1330"/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2104" y="422452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A33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600200" y="417880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Transformer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600200" y="454456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22960" y="502920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2A2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pure function. Maps the PIEAS schema onto OpenEduCat models using a cached mapping plan. Identical logic in every phase.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263640" y="3977640"/>
            <a:ext cx="53949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2E6EF"/>
            </a:solidFill>
            <a:prstDash val="solid"/>
          </a:ln>
          <a:effectLst>
            <a:outerShdw sx="100000" sy="100000" kx="0" ky="0" algn="bl" rotWithShape="0" blurRad="76200" dist="25400" dir="5400000">
              <a:srgbClr val="5B6B87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547104" y="4224528"/>
            <a:ext cx="640080" cy="640080"/>
          </a:xfrm>
          <a:prstGeom prst="ellipse">
            <a:avLst/>
          </a:prstGeom>
          <a:solidFill>
            <a:srgbClr val="0B1330"/>
          </a:solidFill>
          <a:ln w="19050">
            <a:solidFill>
              <a:srgbClr val="E8604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47104" y="422452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604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7315200" y="417880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Loader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7315200" y="454456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537960" y="502920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2A2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writer. Executes create, update, or archive via XML-RPC. Consults diagnostics on rejection to retry, repair, or quarantine.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PIEAS ERP Synchronization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22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 Orchestrator's Control Loop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synchronization run advances through the same four-step cycle, once per entity.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1828800" y="2011680"/>
            <a:ext cx="306324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9050">
            <a:solidFill>
              <a:srgbClr val="1FD1C1"/>
            </a:solidFill>
            <a:prstDash val="solid"/>
          </a:ln>
          <a:effectLst>
            <a:outerShdw sx="100000" sy="100000" kx="0" ky="0" algn="bl" rotWithShape="0" blurRad="76200" dist="25400" dir="5400000">
              <a:srgbClr val="5B6B87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057400" y="2194560"/>
            <a:ext cx="457200" cy="457200"/>
          </a:xfrm>
          <a:prstGeom prst="ellipse">
            <a:avLst/>
          </a:prstGeom>
          <a:solidFill>
            <a:srgbClr val="F3F5FA"/>
          </a:solidFill>
          <a:ln w="19050">
            <a:solidFill>
              <a:srgbClr val="1FD1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05740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D1C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697480" y="21945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22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Check Schedule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103120" y="27889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Timer triggers action.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0" y="2011680"/>
            <a:ext cx="306324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9050">
            <a:solidFill>
              <a:srgbClr val="0FA3A3"/>
            </a:solidFill>
            <a:prstDash val="solid"/>
          </a:ln>
          <a:effectLst>
            <a:outerShdw sx="100000" sy="100000" kx="0" ky="0" algn="bl" rotWithShape="0" blurRad="76200" dist="25400" dir="5400000">
              <a:srgbClr val="5B6B87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543800" y="2194560"/>
            <a:ext cx="457200" cy="457200"/>
          </a:xfrm>
          <a:prstGeom prst="ellipse">
            <a:avLst/>
          </a:prstGeom>
          <a:solidFill>
            <a:srgbClr val="F3F5FA"/>
          </a:solidFill>
          <a:ln w="19050">
            <a:solidFill>
              <a:srgbClr val="0FA3A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54380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A3A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183880" y="21945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22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Instruct Extractor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589520" y="27889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this specific data.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15200" y="4297680"/>
            <a:ext cx="306324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9050">
            <a:solidFill>
              <a:srgbClr val="E8A33D"/>
            </a:solidFill>
            <a:prstDash val="solid"/>
          </a:ln>
          <a:effectLst>
            <a:outerShdw sx="100000" sy="100000" kx="0" ky="0" algn="bl" rotWithShape="0" blurRad="76200" dist="25400" dir="5400000">
              <a:srgbClr val="5B6B87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543800" y="4480560"/>
            <a:ext cx="457200" cy="457200"/>
          </a:xfrm>
          <a:prstGeom prst="ellipse">
            <a:avLst/>
          </a:prstGeom>
          <a:solidFill>
            <a:srgbClr val="F3F5FA"/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543800" y="4480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183880" y="44805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22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Evaluate State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589520" y="50749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against sync_mapping.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828800" y="4297680"/>
            <a:ext cx="306324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9050">
            <a:solidFill>
              <a:srgbClr val="E8604C"/>
            </a:solidFill>
            <a:prstDash val="solid"/>
          </a:ln>
          <a:effectLst>
            <a:outerShdw sx="100000" sy="100000" kx="0" ky="0" algn="bl" rotWithShape="0" blurRad="76200" dist="25400" dir="5400000">
              <a:srgbClr val="5B6B87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057400" y="4480560"/>
            <a:ext cx="457200" cy="457200"/>
          </a:xfrm>
          <a:prstGeom prst="ellipse">
            <a:avLst/>
          </a:prstGeom>
          <a:solidFill>
            <a:srgbClr val="F3F5FA"/>
          </a:solidFill>
          <a:ln w="19050">
            <a:solidFill>
              <a:srgbClr val="E8604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057400" y="4480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604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2697480" y="44805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22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Command Pipeline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2103120" y="50749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 to Transformer &amp; Loader.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92040" y="2628900"/>
            <a:ext cx="2423160" cy="0"/>
          </a:xfrm>
          <a:prstGeom prst="line">
            <a:avLst/>
          </a:prstGeom>
          <a:noFill/>
          <a:ln w="19050">
            <a:solidFill>
              <a:srgbClr val="5B6B87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8846820" y="3246120"/>
            <a:ext cx="0" cy="1051560"/>
          </a:xfrm>
          <a:prstGeom prst="line">
            <a:avLst/>
          </a:prstGeom>
          <a:noFill/>
          <a:ln w="19050">
            <a:solidFill>
              <a:srgbClr val="5B6B87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7315200" y="4914900"/>
            <a:ext cx="-2423160" cy="0"/>
          </a:xfrm>
          <a:prstGeom prst="line">
            <a:avLst/>
          </a:prstGeom>
          <a:noFill/>
          <a:ln w="19050">
            <a:solidFill>
              <a:srgbClr val="5B6B87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3360420" y="4297680"/>
            <a:ext cx="0" cy="-1051560"/>
          </a:xfrm>
          <a:prstGeom prst="line">
            <a:avLst/>
          </a:prstGeom>
          <a:noFill/>
          <a:ln w="19050">
            <a:solidFill>
              <a:srgbClr val="5B6B87"/>
            </a:solidFill>
            <a:prstDash val="solid"/>
            <a:tailEnd type="triangle"/>
          </a:ln>
        </p:spPr>
      </p:sp>
      <p:sp>
        <p:nvSpPr>
          <p:cNvPr id="28" name="Text 26"/>
          <p:cNvSpPr/>
          <p:nvPr/>
        </p:nvSpPr>
        <p:spPr>
          <a:xfrm>
            <a:off x="4892040" y="3246120"/>
            <a:ext cx="2423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sync_mapping</a:t>
            </a:r>
            <a:endParaRPr lang="en-US" sz="10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memory</a:t>
            </a:r>
            <a:endParaRPr lang="en-US" sz="10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consulted at Step 3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PIEAS ERP Synchronization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22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Three Phases, One Pipeline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Extractor → Transformer → Loader pipeline drives all three — only the Orchestrator's instruction changes.</a:t>
            </a:r>
            <a:endParaRPr lang="en-US" sz="13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65960"/>
          <a:ext cx="11064240" cy="914400"/>
        </p:xfrm>
        <a:graphic>
          <a:graphicData uri="http://schemas.openxmlformats.org/drawingml/2006/table">
            <a:tbl>
              <a:tblPr/>
              <a:tblGrid>
                <a:gridCol w="3063240"/>
                <a:gridCol w="2148840"/>
                <a:gridCol w="4160520"/>
                <a:gridCol w="1691640"/>
              </a:tblGrid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5224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Phase</a:t>
                      </a:r>
                      <a:endParaRPr lang="en-US" sz="12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5224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Trigger</a:t>
                      </a:r>
                      <a:endParaRPr lang="en-US" sz="12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5224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Extractor Instruction</a:t>
                      </a:r>
                      <a:endParaRPr lang="en-US" sz="12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5224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Loader Operation</a:t>
                      </a:r>
                      <a:endParaRPr lang="en-US" sz="12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8F2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52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Bulk Migration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A2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 store is empty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A2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Fetch every row, paginate until exhausted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A2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Mostly create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52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Incremental (Fast Pulse)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A2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Timer, every 15–60 min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A2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 last_updated &gt; watermark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A2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Upsert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52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Deletion Scan (Slow Pulse)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A2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Timer, once daily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A2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Fetch the id column of every current row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A2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Archive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PIEAS ERP Synchronization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22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Incremental Sync Needs Two Distinct Rhythms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PIEAS cannot push, so the Orchestrator must actively hunt for two structurally different kinds of change.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349240" cy="3977640"/>
          </a:xfrm>
          <a:prstGeom prst="roundRect">
            <a:avLst>
              <a:gd name="adj" fmla="val 1839"/>
            </a:avLst>
          </a:prstGeom>
          <a:solidFill>
            <a:srgbClr val="FFFFFF"/>
          </a:solidFill>
          <a:ln w="15875">
            <a:solidFill>
              <a:srgbClr val="0FA3A3"/>
            </a:solidFill>
            <a:prstDash val="solid"/>
          </a:ln>
          <a:effectLst>
            <a:outerShdw sx="100000" sy="100000" kx="0" ky="0" algn="bl" rotWithShape="0" blurRad="76200" dist="25400" dir="5400000">
              <a:srgbClr val="5B6B87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920240"/>
            <a:ext cx="5349240" cy="566928"/>
          </a:xfrm>
          <a:prstGeom prst="roundRect">
            <a:avLst>
              <a:gd name="adj" fmla="val 14516"/>
            </a:avLst>
          </a:prstGeom>
          <a:solidFill>
            <a:srgbClr val="0FA3A3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20240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 FAST PULSE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4114800" y="1920240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E4F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15–60 min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22960" y="265176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A3A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Purpose: catching updates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2999232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A2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source table carries a last_updated column, maintained automatically by MySQL. The Orchestrator records a watermark per entity and fetches only rows strictly newer than it. The watermark advances only after a successful load.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22960" y="4526280"/>
            <a:ext cx="4800600" cy="1234440"/>
          </a:xfrm>
          <a:prstGeom prst="roundRect">
            <a:avLst>
              <a:gd name="adj" fmla="val 5926"/>
            </a:avLst>
          </a:prstGeom>
          <a:solidFill>
            <a:srgbClr val="FCEFEA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4626864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604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ANTI-PATTERN, AVOIDED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05840" y="4901184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2A2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boolean sync_pending flag fails: if a row changes again mid-sync, resetting the flag to 0 silently drops the second change. A monotonic watermark cannot lose a write.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263640" y="1920240"/>
            <a:ext cx="5349240" cy="3977640"/>
          </a:xfrm>
          <a:prstGeom prst="roundRect">
            <a:avLst>
              <a:gd name="adj" fmla="val 1839"/>
            </a:avLst>
          </a:prstGeom>
          <a:solidFill>
            <a:srgbClr val="FFFFFF"/>
          </a:solidFill>
          <a:ln w="15875">
            <a:solidFill>
              <a:srgbClr val="E8604C"/>
            </a:solidFill>
            <a:prstDash val="solid"/>
          </a:ln>
          <a:effectLst>
            <a:outerShdw sx="100000" sy="100000" kx="0" ky="0" algn="bl" rotWithShape="0" blurRad="76200" dist="25400" dir="5400000">
              <a:srgbClr val="5B6B87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63640" y="1920240"/>
            <a:ext cx="5349240" cy="566928"/>
          </a:xfrm>
          <a:prstGeom prst="roundRect">
            <a:avLst>
              <a:gd name="adj" fmla="val 14516"/>
            </a:avLst>
          </a:prstGeom>
          <a:solidFill>
            <a:srgbClr val="E8604C"/>
          </a:solidFill>
          <a:ln/>
        </p:spPr>
      </p:sp>
      <p:sp>
        <p:nvSpPr>
          <p:cNvPr id="15" name="Text 13"/>
          <p:cNvSpPr/>
          <p:nvPr/>
        </p:nvSpPr>
        <p:spPr>
          <a:xfrm>
            <a:off x="6537960" y="1920240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 SLOW PULSE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9052560" y="1920240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FCE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daily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537960" y="265176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604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Purpose: catching deletions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537960" y="2999232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A2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WHERE last_updated &gt; watermark query is structurally incapable of finding a row that no longer exists. Instead, the Extractor pulls only current ids, and the Orchestrator diffs them against sync_mapping — a set difference equivalent to a LEFT JOIN.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537960" y="4526280"/>
            <a:ext cx="4800600" cy="1234440"/>
          </a:xfrm>
          <a:prstGeom prst="roundRect">
            <a:avLst>
              <a:gd name="adj" fmla="val 5926"/>
            </a:avLst>
          </a:prstGeom>
          <a:solidFill>
            <a:srgbClr val="F4F6FA"/>
          </a:solidFill>
          <a:ln w="12700">
            <a:solidFill>
              <a:srgbClr val="5B6B8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20840" y="464515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522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m.pieas_id FROM sync_mapping m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720840" y="490118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A3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LEFT JOIN pieas_table s ON s.id = m.pieas_id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720840" y="515721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60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s.id IS NULL AND m.status='active'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720840" y="546811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this is the ghost signal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PIEAS ERP Synchronization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22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Archiving Missing Records Preserves Historical Truth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slow pulse confirms a deletion, the Loader retires the record — it does not destroy it.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4297680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2700">
            <a:solidFill>
              <a:srgbClr val="E2E6EF"/>
            </a:solidFill>
            <a:prstDash val="solid"/>
          </a:ln>
          <a:effectLst>
            <a:outerShdw sx="100000" sy="100000" kx="0" ky="0" algn="bl" rotWithShape="0" blurRad="76200" dist="25400" dir="5400000">
              <a:srgbClr val="5B6B87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21945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522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OpenEduCat Student Record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22960" y="27432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Name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22960" y="3035808"/>
            <a:ext cx="3291840" cy="0"/>
          </a:xfrm>
          <a:prstGeom prst="line">
            <a:avLst/>
          </a:prstGeom>
          <a:noFill/>
          <a:ln w="9525">
            <a:solidFill>
              <a:srgbClr val="E2E6EF"/>
            </a:solidFill>
            <a:prstDash val="solid"/>
            <a:tailEnd type="none"/>
          </a:ln>
        </p:spPr>
      </p:sp>
      <p:sp>
        <p:nvSpPr>
          <p:cNvPr id="8" name="Text 6"/>
          <p:cNvSpPr/>
          <p:nvPr/>
        </p:nvSpPr>
        <p:spPr>
          <a:xfrm>
            <a:off x="822960" y="32004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22960" y="3493008"/>
            <a:ext cx="3291840" cy="0"/>
          </a:xfrm>
          <a:prstGeom prst="line">
            <a:avLst/>
          </a:prstGeom>
          <a:noFill/>
          <a:ln w="9525">
            <a:solidFill>
              <a:srgbClr val="E2E6EF"/>
            </a:solidFill>
            <a:prstDash val="solid"/>
            <a:tailEnd type="none"/>
          </a:ln>
        </p:spPr>
      </p:sp>
      <p:sp>
        <p:nvSpPr>
          <p:cNvPr id="10" name="Text 8"/>
          <p:cNvSpPr/>
          <p:nvPr/>
        </p:nvSpPr>
        <p:spPr>
          <a:xfrm>
            <a:off x="822960" y="36576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 Status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22960" y="3950208"/>
            <a:ext cx="3291840" cy="0"/>
          </a:xfrm>
          <a:prstGeom prst="line">
            <a:avLst/>
          </a:prstGeom>
          <a:noFill/>
          <a:ln w="9525">
            <a:solidFill>
              <a:srgbClr val="E2E6EF"/>
            </a:solidFill>
            <a:prstDash val="solid"/>
            <a:tailEnd type="none"/>
          </a:ln>
        </p:spPr>
      </p:sp>
      <p:sp>
        <p:nvSpPr>
          <p:cNvPr id="12" name="Text 10"/>
          <p:cNvSpPr/>
          <p:nvPr/>
        </p:nvSpPr>
        <p:spPr>
          <a:xfrm>
            <a:off x="822960" y="41148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22960" y="4407408"/>
            <a:ext cx="3291840" cy="0"/>
          </a:xfrm>
          <a:prstGeom prst="line">
            <a:avLst/>
          </a:prstGeom>
          <a:noFill/>
          <a:ln w="9525">
            <a:solidFill>
              <a:srgbClr val="E2E6EF"/>
            </a:solidFill>
            <a:prstDash val="solid"/>
            <a:tailEnd type="none"/>
          </a:ln>
        </p:spPr>
      </p:sp>
      <p:sp>
        <p:nvSpPr>
          <p:cNvPr id="14" name="Text 12"/>
          <p:cNvSpPr/>
          <p:nvPr/>
        </p:nvSpPr>
        <p:spPr>
          <a:xfrm>
            <a:off x="822960" y="45720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22960" y="4864608"/>
            <a:ext cx="3291840" cy="0"/>
          </a:xfrm>
          <a:prstGeom prst="line">
            <a:avLst/>
          </a:prstGeom>
          <a:noFill/>
          <a:ln w="9525">
            <a:solidFill>
              <a:srgbClr val="E2E6EF"/>
            </a:solidFill>
            <a:prstDash val="solid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822960" y="5257800"/>
            <a:ext cx="3291840" cy="457200"/>
          </a:xfrm>
          <a:prstGeom prst="roundRect">
            <a:avLst>
              <a:gd name="adj" fmla="val 50000"/>
            </a:avLst>
          </a:prstGeom>
          <a:solidFill>
            <a:srgbClr val="E8604C">
              <a:alpha val="15000"/>
            </a:srgbClr>
          </a:solidFill>
          <a:ln w="15875">
            <a:solidFill>
              <a:srgbClr val="E8604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52578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860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active = False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983480" y="3931920"/>
            <a:ext cx="1097280" cy="0"/>
          </a:xfrm>
          <a:prstGeom prst="line">
            <a:avLst/>
          </a:prstGeom>
          <a:noFill/>
          <a:ln w="19050">
            <a:solidFill>
              <a:srgbClr val="5B6B87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263640" y="2103120"/>
            <a:ext cx="53492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5875">
            <a:solidFill>
              <a:srgbClr val="0FA3A3"/>
            </a:solidFill>
            <a:prstDash val="solid"/>
          </a:ln>
          <a:effectLst>
            <a:outerShdw sx="100000" sy="100000" kx="0" ky="0" algn="bl" rotWithShape="0" blurRad="76200" dist="25400" dir="5400000">
              <a:srgbClr val="5B6B87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629400" y="2331720"/>
            <a:ext cx="548640" cy="548640"/>
          </a:xfrm>
          <a:prstGeom prst="ellipse">
            <a:avLst/>
          </a:prstGeom>
          <a:solidFill>
            <a:srgbClr val="F3F5FA"/>
          </a:solidFill>
          <a:ln w="19050">
            <a:solidFill>
              <a:srgbClr val="0FA3A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29400" y="2331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A3A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✓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452360" y="233172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22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Preserves historical data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452360" y="2788920"/>
            <a:ext cx="3977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A2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Grades and past enrollment stay fully intact and queryable.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263640" y="4023360"/>
            <a:ext cx="53492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5875">
            <a:solidFill>
              <a:srgbClr val="E8A33D"/>
            </a:solidFill>
            <a:prstDash val="solid"/>
          </a:ln>
          <a:effectLst>
            <a:outerShdw sx="100000" sy="100000" kx="0" ky="0" algn="bl" rotWithShape="0" blurRad="76200" dist="25400" dir="5400000">
              <a:srgbClr val="5B6B87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629400" y="4251960"/>
            <a:ext cx="548640" cy="548640"/>
          </a:xfrm>
          <a:prstGeom prst="ellipse">
            <a:avLst/>
          </a:prstGeom>
          <a:solidFill>
            <a:srgbClr val="F3F5FA"/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29400" y="4251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A33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✓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7452360" y="425196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22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Protects against false positives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452360" y="4709160"/>
            <a:ext cx="3977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A2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Guards against accidental PIEAS renames or temporary status changes.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263640" y="5943600"/>
            <a:ext cx="5349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every model can be archived — line records such as op.exam.attendees have no active field, so the Loader detects this at runtime and removes them instead.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PIEAS ERP Synchronization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22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Reasoning Once, Executing Deterministically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reasons about shape — schemas and queries — not about individual rows. The model proposes; the live Odoo schema decides.</a:t>
            </a:r>
            <a:endParaRPr lang="en-US" sz="13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20240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6217920"/>
                <a:gridCol w="2468880"/>
              </a:tblGrid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5224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Agent</a:t>
                      </a:r>
                      <a:endParaRPr lang="en-US" sz="12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5224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What Gemini Is Asked</a:t>
                      </a:r>
                      <a:endParaRPr lang="en-US" sz="12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5224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Frequency</a:t>
                      </a:r>
                      <a:endParaRPr lang="en-US" sz="12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8F2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52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Orchestrator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A2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 each entity's phase and instruction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A2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Once per run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52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Extractor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A2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Translate the instruction into validated SQL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A2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Once per entity/phase — cached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52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Transformer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A2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 MySQL columns onto Odoo's fields_get()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A2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Once per entity — cached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52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Loader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A2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Triage a rejected write, choose a recovery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A2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Once per error signature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892040"/>
            <a:ext cx="11064240" cy="1417320"/>
          </a:xfrm>
          <a:prstGeom prst="roundRect">
            <a:avLst>
              <a:gd name="adj" fmla="val 6452"/>
            </a:avLst>
          </a:prstGeom>
          <a:solidFill>
            <a:srgbClr val="EDEFF8"/>
          </a:solidFill>
          <a:ln w="12700">
            <a:solidFill>
              <a:srgbClr val="15224A"/>
            </a:solidFill>
            <a:prstDash val="solid"/>
          </a:ln>
          <a:effectLst>
            <a:outerShdw sx="100000" sy="100000" kx="0" ky="0" algn="bl" rotWithShape="0" blurRad="76200" dist="25400" dir="5400000">
              <a:srgbClr val="5B6B87">
                <a:alpha val="1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22960" y="502920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22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Every LLM output is sanitized before use: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822960" y="534924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A2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SQL must parse as one SELECT against a whitelisted table  •  Readonly / related-stored Odoo fields are silently dropped from mapping plans  •  Foreign keys the model overlooks are recovered from information_schema  •  If Gemini is unreachable, every agent falls back to a deterministic plan and the run still completes.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PIEAS ERP Synchronization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22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Real Engineering Challenges, Real Fixes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an agentic system that writes to production-shaped software surfaced failure modes theory wouldn't predict.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44068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E2E6EF"/>
            </a:solidFill>
            <a:prstDash val="solid"/>
          </a:ln>
          <a:effectLst>
            <a:outerShdw sx="100000" sy="100000" kx="0" ky="0" algn="bl" rotWithShape="0" blurRad="76200" dist="25400" dir="5400000">
              <a:srgbClr val="5B6B87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920240"/>
            <a:ext cx="5440680" cy="457200"/>
          </a:xfrm>
          <a:prstGeom prst="roundRect">
            <a:avLst>
              <a:gd name="adj" fmla="val 18000"/>
            </a:avLst>
          </a:prstGeom>
          <a:solidFill>
            <a:srgbClr val="E8604C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9202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AN LLM HALLUCINATED A FOREIGN KEY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04672" y="2542032"/>
            <a:ext cx="49377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2A2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Gemini's mapping plan hardcoded partner_id: 1. Because op.student uses Odoo's _inherits against res.partner, every one of 20 students bound to the same partner — each write silently overwrote the previous student's name.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804672" y="4297680"/>
            <a:ext cx="4928616" cy="0"/>
          </a:xfrm>
          <a:prstGeom prst="line">
            <a:avLst/>
          </a:prstGeom>
          <a:noFill/>
          <a:ln w="12700">
            <a:solidFill>
              <a:srgbClr val="0FA3A3"/>
            </a:solidFill>
            <a:prstDash val="solid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804672" y="43891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A3A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RESOLUTION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04672" y="4663440"/>
            <a:ext cx="49377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A2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sanitizer now rejects any literal, hardcoded value proposed for a relational field, unconditionally. A relation may only be populated by resolving a source-side foreign key through sync_mapping.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72200" y="1920240"/>
            <a:ext cx="544068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E2E6EF"/>
            </a:solidFill>
            <a:prstDash val="solid"/>
          </a:ln>
          <a:effectLst>
            <a:outerShdw sx="100000" sy="100000" kx="0" ky="0" algn="bl" rotWithShape="0" blurRad="76200" dist="25400" dir="5400000">
              <a:srgbClr val="5B6B87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1920240"/>
            <a:ext cx="5440680" cy="457200"/>
          </a:xfrm>
          <a:prstGeom prst="roundRect">
            <a:avLst>
              <a:gd name="adj" fmla="val 18000"/>
            </a:avLst>
          </a:prstGeom>
          <a:solidFill>
            <a:srgbClr val="E8604C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0" y="19202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FREE-TIER QUOTA IS PER MODEL, PER DAY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428232" y="2542032"/>
            <a:ext cx="49377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2A2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two bulk-migration attempts exhausted Gemini's free tier, capped at 20 requests/day per model. Long exponential backoff made failed calls appear to hang for over two minutes.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28232" y="4297680"/>
            <a:ext cx="4928616" cy="0"/>
          </a:xfrm>
          <a:prstGeom prst="line">
            <a:avLst/>
          </a:prstGeom>
          <a:noFill/>
          <a:ln w="12700">
            <a:solidFill>
              <a:srgbClr val="0FA3A3"/>
            </a:solidFill>
            <a:prstDash val="solid"/>
            <a:tailEnd type="none"/>
          </a:ln>
        </p:spPr>
      </p:sp>
      <p:sp>
        <p:nvSpPr>
          <p:cNvPr id="16" name="Text 14"/>
          <p:cNvSpPr/>
          <p:nvPr/>
        </p:nvSpPr>
        <p:spPr>
          <a:xfrm>
            <a:off x="6428232" y="43891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A3A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RESOLUTION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428232" y="4663440"/>
            <a:ext cx="49377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A2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Moved to gemini-3.1-flash-lite, whose allowance comfortably covers a full run. Because mapping and SQL plans are cached after the first success, a warm re-run costs one Gemini call regardless of table size.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PIEAS ERP Synchronization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22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Verified End-to-End Against Live Systems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mocked — tested against a real MySQL instance and a real Odoo 19 / OpenEduCat installation.</a:t>
            </a:r>
            <a:endParaRPr lang="en-US" sz="13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20240"/>
          <a:ext cx="110642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5577840"/>
                <a:gridCol w="2743200"/>
              </a:tblGrid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5224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Test</a:t>
                      </a:r>
                      <a:endParaRPr lang="en-US" sz="12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5224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Method</a:t>
                      </a:r>
                      <a:endParaRPr lang="en-US" sz="12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5224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Result</a:t>
                      </a:r>
                      <a:endParaRPr lang="en-US" sz="12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8F2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A2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Bulk migration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A2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Seed 99 rows across 8 tables; run full migration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F8F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 99/99, 0 failures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A2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Update propagation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A2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Edit a student's name &amp; phone; run incremental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F8F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 Reflected correctly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A2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Examination routing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A2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Insert a new exam row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F8F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 Lands in op.exam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A2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Deletion handling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A2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 a student; run the deletion scan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F8F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 Archived, not destroyed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A2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Watermark safety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A2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 incremental sync twice, no changes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F8F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 Zero rows on 2nd run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A2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Unattended scheduling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A2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 scheduler; edit MySQL live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F8F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 Caught unattended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PIEAS ERP Synchronization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22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Tech Stack &amp; Entity Routing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508760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A3A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TECHNOLOGY STACK</a:t>
            </a:r>
            <a:endParaRPr lang="en-US" sz="12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539496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379476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52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Orchestration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A2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LangGraph StateGraph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52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A2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Gemini (gemini-3.1-flash-lite)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52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A2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MySQL 8.0, read-only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52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A2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OpenEduCat 19.0 / Odoo, XML-RPC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52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 store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A2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SQLite (sync_mapping, sync_watermark)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52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Scheduler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A2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APScheduler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263640" y="1508760"/>
            <a:ext cx="5349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604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ENTITY ROUTING</a:t>
            </a:r>
            <a:endParaRPr lang="en-US" sz="1250" dirty="0"/>
          </a:p>
        </p:txBody>
      </p:sp>
      <p:graphicFrame>
        <p:nvGraphicFramePr>
          <p:cNvPr id="2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3640" y="1828800"/>
          <a:ext cx="5349240" cy="914400"/>
        </p:xfrm>
        <a:graphic>
          <a:graphicData uri="http://schemas.openxmlformats.org/drawingml/2006/table">
            <a:tbl>
              <a:tblPr/>
              <a:tblGrid>
                <a:gridCol w="2331720"/>
                <a:gridCol w="1965960"/>
                <a:gridCol w="105156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5224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MySQL Table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5224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OpenEduCat Model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5224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Module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8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A2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departments → students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A2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op.department … op.student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E860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A2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A2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op.exam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E860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Examination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A2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exam_results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A2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op.exam.attendees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E860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Examination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4709160"/>
            <a:ext cx="11064240" cy="1234440"/>
          </a:xfrm>
          <a:prstGeom prst="roundRect">
            <a:avLst>
              <a:gd name="adj" fmla="val 7407"/>
            </a:avLst>
          </a:prstGeom>
          <a:solidFill>
            <a:srgbClr val="EDEFF8"/>
          </a:solidFill>
          <a:ln w="12700">
            <a:solidFill>
              <a:srgbClr val="15224A"/>
            </a:solidFill>
            <a:prstDash val="solid"/>
          </a:ln>
          <a:effectLst>
            <a:outerShdw sx="100000" sy="100000" kx="0" ky="0" algn="bl" rotWithShape="0" blurRad="76200" dist="25400" dir="5400000">
              <a:srgbClr val="5B6B87">
                <a:alpha val="18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868680" y="4709160"/>
            <a:ext cx="10424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52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a ninth entity is a single line of configuration — the agents discover its columns, foreign keys, and target fields at run time.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PIEAS ERP Synchronization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3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011680"/>
            <a:ext cx="5486400" cy="5486400"/>
          </a:xfrm>
          <a:prstGeom prst="ellipse">
            <a:avLst/>
          </a:prstGeom>
          <a:solidFill>
            <a:srgbClr val="0FA3A3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961120" y="4206240"/>
            <a:ext cx="5120640" cy="5120640"/>
          </a:xfrm>
          <a:prstGeom prst="ellipse">
            <a:avLst/>
          </a:prstGeom>
          <a:solidFill>
            <a:srgbClr val="1FD1C1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0FA3A3"/>
          </a:solidFill>
          <a:ln/>
        </p:spPr>
      </p:sp>
      <p:sp>
        <p:nvSpPr>
          <p:cNvPr id="5" name="Shape 3"/>
          <p:cNvSpPr/>
          <p:nvPr/>
        </p:nvSpPr>
        <p:spPr>
          <a:xfrm>
            <a:off x="626364" y="1513332"/>
            <a:ext cx="576072" cy="576072"/>
          </a:xfrm>
          <a:prstGeom prst="ellipse">
            <a:avLst/>
          </a:prstGeom>
          <a:solidFill>
            <a:srgbClr val="0B1330"/>
          </a:solidFill>
          <a:ln w="19050">
            <a:solidFill>
              <a:srgbClr val="8892A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6364" y="1513332"/>
            <a:ext cx="57607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892A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22585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PIEAS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202436" y="1801368"/>
            <a:ext cx="745236" cy="0"/>
          </a:xfrm>
          <a:prstGeom prst="line">
            <a:avLst/>
          </a:prstGeom>
          <a:noFill/>
          <a:ln w="15875">
            <a:solidFill>
              <a:srgbClr val="5C6690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1947672" y="1417320"/>
            <a:ext cx="768096" cy="768096"/>
          </a:xfrm>
          <a:prstGeom prst="ellipse">
            <a:avLst/>
          </a:prstGeom>
          <a:solidFill>
            <a:srgbClr val="0B1330"/>
          </a:solidFill>
          <a:ln w="19050">
            <a:solidFill>
              <a:srgbClr val="1FD1C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47672" y="1417320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D1C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08760" y="22585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15768" y="1801368"/>
            <a:ext cx="1380744" cy="0"/>
          </a:xfrm>
          <a:prstGeom prst="line">
            <a:avLst/>
          </a:prstGeom>
          <a:noFill/>
          <a:ln w="15875">
            <a:solidFill>
              <a:srgbClr val="5C6690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096512" y="1417320"/>
            <a:ext cx="768096" cy="768096"/>
          </a:xfrm>
          <a:prstGeom prst="ellipse">
            <a:avLst/>
          </a:prstGeom>
          <a:solidFill>
            <a:srgbClr val="0B1330"/>
          </a:solidFill>
          <a:ln w="19050">
            <a:solidFill>
              <a:srgbClr val="0FA3A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096512" y="1417320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A3A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657600" y="22585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Extractor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864608" y="1801368"/>
            <a:ext cx="1380744" cy="0"/>
          </a:xfrm>
          <a:prstGeom prst="line">
            <a:avLst/>
          </a:prstGeom>
          <a:noFill/>
          <a:ln w="15875">
            <a:solidFill>
              <a:srgbClr val="5C6690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245352" y="1417320"/>
            <a:ext cx="768096" cy="768096"/>
          </a:xfrm>
          <a:prstGeom prst="ellipse">
            <a:avLst/>
          </a:prstGeom>
          <a:solidFill>
            <a:srgbClr val="0B1330"/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45352" y="1417320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A33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806440" y="22585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013448" y="1801368"/>
            <a:ext cx="1380744" cy="0"/>
          </a:xfrm>
          <a:prstGeom prst="line">
            <a:avLst/>
          </a:prstGeom>
          <a:noFill/>
          <a:ln w="15875">
            <a:solidFill>
              <a:srgbClr val="5C6690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8394192" y="1417320"/>
            <a:ext cx="768096" cy="768096"/>
          </a:xfrm>
          <a:prstGeom prst="ellipse">
            <a:avLst/>
          </a:prstGeom>
          <a:solidFill>
            <a:srgbClr val="0B1330"/>
          </a:solidFill>
          <a:ln w="19050">
            <a:solidFill>
              <a:srgbClr val="E8604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394192" y="1417320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604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955280" y="22585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Loader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162288" y="1801368"/>
            <a:ext cx="379476" cy="0"/>
          </a:xfrm>
          <a:prstGeom prst="line">
            <a:avLst/>
          </a:prstGeom>
          <a:noFill/>
          <a:ln w="15875">
            <a:solidFill>
              <a:srgbClr val="5C6690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9541764" y="1513332"/>
            <a:ext cx="576072" cy="576072"/>
          </a:xfrm>
          <a:prstGeom prst="ellipse">
            <a:avLst/>
          </a:prstGeom>
          <a:solidFill>
            <a:srgbClr val="0B1330"/>
          </a:solidFill>
          <a:ln w="19050">
            <a:solidFill>
              <a:srgbClr val="8892A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541764" y="1513332"/>
            <a:ext cx="57607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892A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OC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189720" y="225856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OpenEduCat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371600" y="4251960"/>
            <a:ext cx="94457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Specialized agents. Strict state control.</a:t>
            </a:r>
            <a:endParaRPr lang="en-US" sz="22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Complete data integrity.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3566160" y="54406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0FA3A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FUTURE WORK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1371600" y="5715000"/>
            <a:ext cx="9445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AE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entity processing   •   Conflict detection   •   Observability dashboard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Agentic PIEAS ERP Synchronization</dc:title>
  <dc:subject>PptxGenJS Presentation</dc:subject>
  <dc:creator>PIEAS</dc:creator>
  <cp:lastModifiedBy>PIEAS</cp:lastModifiedBy>
  <cp:revision>1</cp:revision>
  <dcterms:created xsi:type="dcterms:W3CDTF">2026-08-12T04:07:43Z</dcterms:created>
  <dcterms:modified xsi:type="dcterms:W3CDTF">2026-08-12T04:07:43Z</dcterms:modified>
</cp:coreProperties>
</file>