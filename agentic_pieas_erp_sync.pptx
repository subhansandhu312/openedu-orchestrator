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62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92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FD1C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572000" cy="4572000"/>
          </a:xfrm>
          <a:prstGeom prst="ellipse">
            <a:avLst/>
          </a:prstGeom>
          <a:solidFill>
            <a:srgbClr val="0FA3A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" name="Shape 3"/>
          <p:cNvSpPr/>
          <p:nvPr/>
        </p:nvSpPr>
        <p:spPr>
          <a:xfrm>
            <a:off x="8769096" y="978408"/>
            <a:ext cx="486461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694469" y="978408"/>
            <a:ext cx="486461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619842" y="978408"/>
            <a:ext cx="486461" cy="0"/>
          </a:xfrm>
          <a:prstGeom prst="line">
            <a:avLst/>
          </a:prstGeom>
          <a:noFill/>
          <a:ln w="12700">
            <a:solidFill>
              <a:srgbClr val="0FA3A3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549640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572" dirty="0"/>
          </a:p>
        </p:txBody>
      </p:sp>
      <p:sp>
        <p:nvSpPr>
          <p:cNvPr id="10" name="Shape 8"/>
          <p:cNvSpPr/>
          <p:nvPr/>
        </p:nvSpPr>
        <p:spPr>
          <a:xfrm>
            <a:off x="9475013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75013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572" dirty="0"/>
          </a:p>
        </p:txBody>
      </p:sp>
      <p:sp>
        <p:nvSpPr>
          <p:cNvPr id="12" name="Shape 10"/>
          <p:cNvSpPr/>
          <p:nvPr/>
        </p:nvSpPr>
        <p:spPr>
          <a:xfrm>
            <a:off x="10400386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00386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572" dirty="0"/>
          </a:p>
        </p:txBody>
      </p:sp>
      <p:sp>
        <p:nvSpPr>
          <p:cNvPr id="14" name="Shape 12"/>
          <p:cNvSpPr/>
          <p:nvPr/>
        </p:nvSpPr>
        <p:spPr>
          <a:xfrm>
            <a:off x="11325758" y="777240"/>
            <a:ext cx="402336" cy="40233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25758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572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PAKISTAN INSTITUTE OF ENGINEERING AND APPLIED SCIENCES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69748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Agentic PIEAS ERP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Synchronization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85800" y="42793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D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Four-Agent LangGraph System for Continuous, Unattended Data Migration into OpenEduCat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" y="5074920"/>
            <a:ext cx="7424928" cy="0"/>
          </a:xfrm>
          <a:prstGeom prst="line">
            <a:avLst/>
          </a:prstGeom>
          <a:noFill/>
          <a:ln w="9525">
            <a:solidFill>
              <a:srgbClr val="3A4568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85800" y="5230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learning-management system, with no API and no webhooks, kept in perpetual synchrony with a modern Odoo-based ERP through bulk migration, incremental updates, and unattended deletion detection.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6108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3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TYPE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6373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/ Systems Integration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6108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3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6373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•  Gemini  •  MySQL  •  Odoo XML-RPC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0" y="6108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3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6880" y="6373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Synchronizing a System That Cannot Speak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from a standalone PIEAS LMS to OpenEduCat solves data silos — but the source system is completely silent.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5B6B87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842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PIEAS LMS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62072" y="2578608"/>
            <a:ext cx="493776" cy="493776"/>
          </a:xfrm>
          <a:prstGeom prst="ellipse">
            <a:avLst/>
          </a:prstGeom>
          <a:ln w="50800">
            <a:solidFill>
              <a:srgbClr val="E86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6352" y="2825496"/>
            <a:ext cx="585216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679192" y="2788920"/>
            <a:ext cx="859536" cy="658368"/>
          </a:xfrm>
          <a:prstGeom prst="roundRect">
            <a:avLst>
              <a:gd name="adj" fmla="val 9722"/>
            </a:avLst>
          </a:prstGeom>
          <a:solidFill>
            <a:srgbClr val="E8604C">
              <a:alpha val="88000"/>
            </a:srgbClr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2999232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webhooks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553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Cannot push updates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7830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5B6B87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9842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OpenEduCat (Odoo)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52560" y="2788920"/>
            <a:ext cx="0" cy="0"/>
          </a:xfrm>
          <a:prstGeom prst="line">
            <a:avLst/>
          </a:prstGeom>
          <a:noFill/>
          <a:ln w="19050">
            <a:solidFill>
              <a:srgbClr val="0FA3A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052560" y="2788920"/>
            <a:ext cx="0" cy="219456"/>
          </a:xfrm>
          <a:prstGeom prst="line">
            <a:avLst/>
          </a:prstGeom>
          <a:noFill/>
          <a:ln w="19050">
            <a:solidFill>
              <a:srgbClr val="0FA3A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052560" y="2788920"/>
            <a:ext cx="329184" cy="219456"/>
          </a:xfrm>
          <a:prstGeom prst="line">
            <a:avLst/>
          </a:prstGeom>
          <a:noFill/>
          <a:ln w="19050">
            <a:solidFill>
              <a:srgbClr val="0FA3A3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942832" y="267919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A3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5692" y="2372868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D1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36508" y="2921508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D1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94876" y="2921508"/>
            <a:ext cx="173736" cy="1737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D1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 ERP with a real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Centralizes academic records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4553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Eliminates data silos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737360" y="5285232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15224A"/>
          </a:solidFill>
          <a:ln/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65960" y="5285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you synchronize a system that cannot tell you when its data changes?”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Specialized Multi-Agent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decides. Three agents execute. Nothing is monolithic.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26280" y="187452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EDEFF8"/>
          </a:solidFill>
          <a:ln w="15875">
            <a:solidFill>
              <a:srgbClr val="15224A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2628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26280" y="2331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workflow &amp; state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2220" y="2743200"/>
            <a:ext cx="0" cy="256032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268980" y="2999232"/>
            <a:ext cx="4389120" cy="0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268980" y="2999232"/>
            <a:ext cx="0" cy="704088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63540" y="2999232"/>
            <a:ext cx="0" cy="704088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58100" y="2999232"/>
            <a:ext cx="0" cy="704088"/>
          </a:xfrm>
          <a:prstGeom prst="line">
            <a:avLst/>
          </a:prstGeom>
          <a:noFill/>
          <a:ln w="12700">
            <a:solidFill>
              <a:srgbClr val="8892AE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70332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F3F5FA"/>
          </a:solidFill>
          <a:ln w="15875">
            <a:solidFill>
              <a:srgbClr val="5B6B87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94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PIEAS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239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31720" y="3703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E4F6F6"/>
          </a:solidFill>
          <a:ln w="15875">
            <a:solidFill>
              <a:srgbClr val="0FA3A3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3172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4123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raw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26280" y="3703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E4F6F6"/>
          </a:solidFill>
          <a:ln w="15875">
            <a:solidFill>
              <a:srgbClr val="0FA3A3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4123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OC schema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0840" y="370332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CEFEA"/>
          </a:solidFill>
          <a:ln w="15875">
            <a:solidFill>
              <a:srgbClr val="E8604C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4123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via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15400" y="370332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3F5FA"/>
          </a:solidFill>
          <a:ln w="15875">
            <a:solidFill>
              <a:srgbClr val="5B6B87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154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OpenEduCat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15400" y="4123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65960" y="4091940"/>
            <a:ext cx="36576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06240" y="4091940"/>
            <a:ext cx="32004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4091940"/>
            <a:ext cx="32004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95360" y="4091940"/>
            <a:ext cx="320040" cy="0"/>
          </a:xfrm>
          <a:prstGeom prst="line">
            <a:avLst/>
          </a:prstGeom>
          <a:noFill/>
          <a:ln w="15875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51760" y="5074920"/>
            <a:ext cx="6858000" cy="566928"/>
          </a:xfrm>
          <a:prstGeom prst="roundRect">
            <a:avLst>
              <a:gd name="adj" fmla="val 50000"/>
            </a:avLst>
          </a:prstGeom>
          <a:solidFill>
            <a:srgbClr val="15224A"/>
          </a:solidFill>
          <a:ln/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51760" y="50749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Principle:  One agent, one job.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Agents, Four Clear Jobs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of them makes decisions or holds memory. The rest strictly execute.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212140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Orchestrator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state — exclusively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decision-maker. Reads sync_mapping to pick each entity's phase, writes extraction instructions, and is the sole agent that advances the watermark.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7104" y="212140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pure fetcher, and the only agent that ever touches PIEAS. Takes an instruction, returns rows. Makes no comparisons.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" y="422452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4544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function. Maps the PIEAS schema onto OpenEduCat models using a cached mapping plan. Identical logic in every phase.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47104" y="4224528"/>
            <a:ext cx="640080" cy="640080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Loader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15200" y="4544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writer. Executes create, update, or archive via XML-RPC. Consults diagnostics on rejection to retry, repair, or quarantine.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Phases, One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Extractor → Transformer → Loader pipeline drives all three — only the Orchestrator's instruction changes.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256032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Phase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Trigger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Extractor Instruction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Loader Operation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Bulk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store is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every row, paginate until exhausted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create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Incremental (Fast Pulse)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Timer, every 15–60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last_updated &gt; watermark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Deletion Scan (Slow Pulse)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Timer, once 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the id column of every current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Incremental Sync Needs Two Distinct Rhythms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PIEAS cannot push, so the Orchestrator must actively hunt for two structurally different kinds of change.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0FA3A3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FAST PULSE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E4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15–60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Purpose: catching updates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table carries a last_updated column, maintained automatically by MySQL. The Orchestrator records a watermark per entity and fetches only rows strictly newer than it. The watermark advances only after a successful load.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CEFEA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6268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ANTI-PATTERN, AVOIDED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90118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sync_pending flag fails: if a row changes again mid-sync, resetting the flag to 0 silently drops the second change. A monotonic watermark cannot lose a write.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92024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920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SLOW PULSE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0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daily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Purpose: catching deletions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99923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WHERE last_updated &gt; watermark query is structurally incapable of finding a row that no longer exists. Instead, the Extractor pulls only current ids, and the Orchestrator diffs them against sync_mapping — a set difference equivalent to a LEFT JOIN.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452628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5B6B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645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m.pieas_id FROM sync_mapping 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20840" y="4901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pieas_table s ON s.id = m.pieas_id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20840" y="5157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s.id IS NULL AND m.status='active'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0840" y="5468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this is the ghost signal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Archiving Missing Records Preserves Historical Truth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slow pulse confirms a deletion, the Loader retires the record — it does not destroy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OpenEduCat Student Record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930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9502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2296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4074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2296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64608"/>
            <a:ext cx="3291840" cy="0"/>
          </a:xfrm>
          <a:prstGeom prst="line">
            <a:avLst/>
          </a:prstGeom>
          <a:noFill/>
          <a:ln w="9525">
            <a:solidFill>
              <a:srgbClr val="E2E6EF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22960" y="52578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604C">
              <a:alpha val="15000"/>
            </a:srgbClr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= False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3931920"/>
            <a:ext cx="1097280" cy="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63640" y="2103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0FA3A3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2331720"/>
            <a:ext cx="548640" cy="54864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23317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Preserves historical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and past enrollment stay fully intact and queryable.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023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4251960"/>
            <a:ext cx="548640" cy="548640"/>
          </a:xfrm>
          <a:prstGeom prst="ellipse">
            <a:avLst/>
          </a:prstGeom>
          <a:solidFill>
            <a:srgbClr val="F3F5F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5236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Protects against false positives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47091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accidental PIEAS renames or temporary status changes.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59436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model can be archived — line records such as op.exam.attendees have no active field, so the Loader detects this at runtime and removes them instead.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Reasoning Once, Executing Deterministically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about shape — schemas and queries — not about individual rows. The model proposes; the live Odoo schema decides.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2651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Agent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What Gemini Is Asked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Frequency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each entity's phase and instruction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 the instruction into validated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entity/phase — 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MySQL columns onto Odoo's fields_get()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entity — 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2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a rejected write, choose a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error signature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DEFF8"/>
          </a:solidFill>
          <a:ln w="12700">
            <a:solidFill>
              <a:srgbClr val="15224A"/>
            </a:solidFill>
            <a:prstDash val="solid"/>
          </a:ln>
          <a:effectLst>
            <a:outerShdw blurRad="76200" dist="25400" dir="5400000" algn="bl" rotWithShape="0">
              <a:srgbClr val="5B6B87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5029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LLM output is sanitized before use: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 must parse as one SELECT against a whitelisted table  •  Readonly / related-stored Odoo fields are silently dropped from mapping plans  •  Foreign keys the model overlooks are recovered from information_schema  •  If Gemini is unreachable, every agent falls back to a deterministic plan and the run still completes.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4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2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Verified End-to-End Against Live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mocked — tested against a real MySQL instance and a real Odoo 19 / OpenEduCat installation.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37124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Test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Method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224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Result</a:t>
                      </a:r>
                      <a:endParaRPr lang="en-US" sz="12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99 rows across 8 tables; run full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99/99, 0 failures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propagation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a student's name &amp; phone; run incremental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Reflected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 new exam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Lands in op.exam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student; run the deletion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Archived, not destroyed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Watermark 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incremental sync twice, no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Zero rows on 2nd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Unattended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scheduler; edit MySQL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Caught unattended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PIEAS ERP Synchronization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FA3A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5120640" cy="5120640"/>
          </a:xfrm>
          <a:prstGeom prst="ellipse">
            <a:avLst/>
          </a:prstGeom>
          <a:solidFill>
            <a:srgbClr val="1FD1C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" y="1513332"/>
            <a:ext cx="576072" cy="576072"/>
          </a:xfrm>
          <a:prstGeom prst="ellipse">
            <a:avLst/>
          </a:prstGeom>
          <a:solidFill>
            <a:srgbClr val="0B1330"/>
          </a:solidFill>
          <a:ln w="19050">
            <a:solidFill>
              <a:srgbClr val="8892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" y="151333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9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02436" y="1801368"/>
            <a:ext cx="745236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4767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1FD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D1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15768" y="1801368"/>
            <a:ext cx="1380744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9651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64608" y="1801368"/>
            <a:ext cx="1380744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4535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0644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13448" y="1801368"/>
            <a:ext cx="1380744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94192" y="1417320"/>
            <a:ext cx="768096" cy="768096"/>
          </a:xfrm>
          <a:prstGeom prst="ellipse">
            <a:avLst/>
          </a:prstGeom>
          <a:solidFill>
            <a:srgbClr val="0B1330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4173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04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55280" y="2258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62288" y="1801368"/>
            <a:ext cx="379476" cy="0"/>
          </a:xfrm>
          <a:prstGeom prst="line">
            <a:avLst/>
          </a:prstGeom>
          <a:noFill/>
          <a:ln w="15875">
            <a:solidFill>
              <a:srgbClr val="5C66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41764" y="1513332"/>
            <a:ext cx="576072" cy="576072"/>
          </a:xfrm>
          <a:prstGeom prst="ellipse">
            <a:avLst/>
          </a:prstGeom>
          <a:solidFill>
            <a:srgbClr val="0B1330"/>
          </a:solidFill>
          <a:ln w="19050">
            <a:solidFill>
              <a:srgbClr val="8892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1764" y="151333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92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9720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OpenEduCat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4251960"/>
            <a:ext cx="9445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Specialized agents. Strict state control.</a:t>
            </a:r>
            <a:endParaRPr lang="en-US" sz="2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data integrity.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66160" y="5440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A3A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71600" y="57150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entity processing   •   Conflict detection   •   Observability dashboard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1080</Words>
  <Application>Microsoft Office PowerPoint</Application>
  <PresentationFormat>Widescreen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PIEAS ERP Synchronization</dc:title>
  <dc:subject>PptxGenJS Presentation</dc:subject>
  <dc:creator>PIEAS</dc:creator>
  <cp:lastModifiedBy>Shayan</cp:lastModifiedBy>
  <cp:revision>1</cp:revision>
  <dcterms:created xsi:type="dcterms:W3CDTF">2026-08-18T08:24:54Z</dcterms:created>
  <dcterms:modified xsi:type="dcterms:W3CDTF">2026-08-18T08:30:02Z</dcterms:modified>
</cp:coreProperties>
</file>